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62332FE-53ED-49E0-BB0E-20EA65F43D6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D37694-0A0C-4890-B22F-FEC435723B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E7DB11-6057-40DD-AE30-4A8C77F6A2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39CF70-2E0E-4D0C-9779-F191EF1996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61ACBC-5DAB-46BF-9EDC-9ADBFA561A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6546B0-D557-4B4B-9B48-7D4C7F8BD9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4CC805-23CE-4B7C-A77E-9E281EEB1D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239F5A-4357-4CD3-930C-63DBBCD0C4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EAE04B-D934-46C0-8D07-EFFCCCD9CF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73850A-A552-4820-BC0B-ED32BCD34E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E2C769-5480-4809-8A29-B4DE054A52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CD44D5-EA00-4B00-B913-4B532B8CCD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616F2F-BDD4-412F-85DE-58C176C047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02C49B-A08A-44FB-A9C3-5D95CBC8C6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84EB7-C923-4502-ACEA-E945D001EC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45C7FF-D366-4583-8486-5CFFDDEC2B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45720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1251b"/>
                </a:solidFill>
                <a:latin typeface="Aptos"/>
              </a:rPr>
              <a:t>Seneca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02920" y="1508760"/>
            <a:ext cx="5942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MST400 Project 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30280" y="2057400"/>
            <a:ext cx="6399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563eb"/>
                </a:solidFill>
                <a:latin typeface="Aptos"/>
              </a:rPr>
              <a:t>Secure Point-to-Site VPN Connection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30280" y="2487240"/>
            <a:ext cx="5302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Aptos"/>
              </a:rPr>
              <a:t>Cloud Network | Summer 2026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452360" y="960120"/>
            <a:ext cx="3930840" cy="4296600"/>
          </a:xfrm>
          <a:prstGeom prst="roundRect">
            <a:avLst>
              <a:gd name="adj" fmla="val 2791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18120" y="132588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Aptos"/>
              </a:rPr>
              <a:t>Final solution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726680" y="1783080"/>
            <a:ext cx="324504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Azure P2S VPN using OpenVPN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Certificate-based authentication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Linux VM private IP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SSH allowed only from VPN client pool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5166360"/>
            <a:ext cx="4753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Aptos"/>
              </a:rPr>
              <a:t>Walid Hasan Ansary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Aptos"/>
              </a:rPr>
              <a:t>VM username: whansary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38120" y="3082320"/>
            <a:ext cx="6648480" cy="5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c7d3e6"/>
                </a:solidFill>
                <a:latin typeface="Segoe UI"/>
                <a:ea typeface="Segoe UI"/>
              </a:rPr>
              <a:t>Private SSH access to an Azure Linux VM, delivered entirely over an encrypted OpenVPN tunnel with certificate-based authentication.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2"/>
          <p:cNvSpPr/>
          <p:nvPr/>
        </p:nvSpPr>
        <p:spPr>
          <a:xfrm>
            <a:off x="411480" y="201240"/>
            <a:ext cx="6399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Aptos"/>
              </a:rPr>
              <a:t>Corrected P2S VPN Architecture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6"/>
          <p:cNvSpPr/>
          <p:nvPr/>
        </p:nvSpPr>
        <p:spPr>
          <a:xfrm>
            <a:off x="429840" y="621720"/>
            <a:ext cx="1051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  <a:ea typeface="Aptos"/>
              </a:rPr>
              <a:t>Gateway and workload subnets are both inside the same Azure VNet; traffic is routed privately after the VPN tunnel terminates.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2514600" y="1673280"/>
            <a:ext cx="1965960" cy="557640"/>
          </a:xfrm>
          <a:prstGeom prst="line">
            <a:avLst/>
          </a:prstGeom>
          <a:ln w="2667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7589520" y="2377440"/>
            <a:ext cx="411480" cy="18000"/>
          </a:xfrm>
          <a:prstGeom prst="line">
            <a:avLst/>
          </a:prstGeom>
          <a:ln w="21590">
            <a:solidFill>
              <a:srgbClr val="0078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 flipH="1">
            <a:off x="9482040" y="3995640"/>
            <a:ext cx="9360" cy="173880"/>
          </a:xfrm>
          <a:prstGeom prst="line">
            <a:avLst/>
          </a:prstGeom>
          <a:ln w="19050">
            <a:solidFill>
              <a:srgbClr val="dc262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502920" y="1143000"/>
            <a:ext cx="2010600" cy="1096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9"/>
          <p:cNvSpPr/>
          <p:nvPr/>
        </p:nvSpPr>
        <p:spPr>
          <a:xfrm>
            <a:off x="612720" y="1280160"/>
            <a:ext cx="1791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Aptos"/>
                <a:ea typeface="Aptos"/>
              </a:rPr>
              <a:t>Local Ubuntu PC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32"/>
          <p:cNvSpPr/>
          <p:nvPr/>
        </p:nvSpPr>
        <p:spPr>
          <a:xfrm>
            <a:off x="667440" y="1609200"/>
            <a:ext cx="16815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  <a:ea typeface="Aptos"/>
              </a:rPr>
              <a:t>Current VPN 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  <a:ea typeface="Aptos"/>
              </a:rPr>
              <a:t>172.16.104.2/24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37"/>
          <p:cNvSpPr/>
          <p:nvPr/>
        </p:nvSpPr>
        <p:spPr>
          <a:xfrm>
            <a:off x="2651760" y="1051560"/>
            <a:ext cx="12333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Aptos"/>
                <a:ea typeface="Aptos"/>
              </a:rPr>
              <a:t>Encrypted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Aptos"/>
                <a:ea typeface="Aptos"/>
              </a:rPr>
              <a:t>OpenVPN tunnel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4251960" y="969120"/>
            <a:ext cx="726948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251960" y="5861160"/>
            <a:ext cx="726948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4251960" y="969120"/>
            <a:ext cx="360" cy="489204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11521440" y="969120"/>
            <a:ext cx="360" cy="489204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8"/>
          <p:cNvSpPr/>
          <p:nvPr/>
        </p:nvSpPr>
        <p:spPr>
          <a:xfrm>
            <a:off x="4507920" y="1170360"/>
            <a:ext cx="4205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f172a"/>
                </a:solidFill>
                <a:latin typeface="Aptos"/>
                <a:ea typeface="Aptos"/>
              </a:rPr>
              <a:t>Walid-VNet-CanadaCentral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39"/>
          <p:cNvSpPr/>
          <p:nvPr/>
        </p:nvSpPr>
        <p:spPr>
          <a:xfrm>
            <a:off x="8823960" y="1188720"/>
            <a:ext cx="2422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  <a:ea typeface="Aptos"/>
              </a:rPr>
              <a:t>Address space: 104.104.104.0/25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4617720" y="1664280"/>
            <a:ext cx="2970720" cy="1416240"/>
          </a:xfrm>
          <a:prstGeom prst="roundRect">
            <a:avLst>
              <a:gd name="adj" fmla="val 7097"/>
            </a:avLst>
          </a:prstGeom>
          <a:solidFill>
            <a:srgbClr val="dbeafe"/>
          </a:solidFill>
          <a:ln w="2159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40"/>
          <p:cNvSpPr/>
          <p:nvPr/>
        </p:nvSpPr>
        <p:spPr>
          <a:xfrm>
            <a:off x="4763880" y="1792080"/>
            <a:ext cx="2678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ptos"/>
                <a:ea typeface="Aptos"/>
              </a:rPr>
              <a:t>GatewaySubnet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41"/>
          <p:cNvSpPr/>
          <p:nvPr/>
        </p:nvSpPr>
        <p:spPr>
          <a:xfrm>
            <a:off x="4763880" y="2094120"/>
            <a:ext cx="2678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334155"/>
                </a:solidFill>
                <a:latin typeface="Aptos"/>
                <a:ea typeface="Aptos"/>
              </a:rPr>
              <a:t>104.104.104.0/27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42"/>
          <p:cNvSpPr/>
          <p:nvPr/>
        </p:nvSpPr>
        <p:spPr>
          <a:xfrm>
            <a:off x="4800600" y="2377440"/>
            <a:ext cx="26049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0f172a"/>
                </a:solidFill>
                <a:latin typeface="Aptos"/>
                <a:ea typeface="Aptos"/>
              </a:rPr>
              <a:t>Walid-VpnGw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0f172a"/>
                </a:solidFill>
                <a:latin typeface="Aptos"/>
                <a:ea typeface="Aptos"/>
              </a:rPr>
              <a:t>Public IP: 20.220.251.24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0f172a"/>
                </a:solidFill>
                <a:latin typeface="Aptos"/>
                <a:ea typeface="Aptos"/>
              </a:rPr>
              <a:t>VPN type: Route-based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8001000" y="1664280"/>
            <a:ext cx="2970720" cy="2330640"/>
          </a:xfrm>
          <a:prstGeom prst="roundRect">
            <a:avLst>
              <a:gd name="adj" fmla="val 4314"/>
            </a:avLst>
          </a:prstGeom>
          <a:solidFill>
            <a:srgbClr val="dcfce7"/>
          </a:solidFill>
          <a:ln w="2159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43"/>
          <p:cNvSpPr/>
          <p:nvPr/>
        </p:nvSpPr>
        <p:spPr>
          <a:xfrm>
            <a:off x="8165520" y="1792080"/>
            <a:ext cx="2641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ptos"/>
                <a:ea typeface="Aptos"/>
              </a:rPr>
              <a:t>WorkloadSubnet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44"/>
          <p:cNvSpPr/>
          <p:nvPr/>
        </p:nvSpPr>
        <p:spPr>
          <a:xfrm>
            <a:off x="8165520" y="2094120"/>
            <a:ext cx="2641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334155"/>
                </a:solidFill>
                <a:latin typeface="Aptos"/>
                <a:ea typeface="Aptos"/>
              </a:rPr>
              <a:t>104.104.104.32/27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8321040" y="2514600"/>
            <a:ext cx="2330640" cy="913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45"/>
          <p:cNvSpPr/>
          <p:nvPr/>
        </p:nvSpPr>
        <p:spPr>
          <a:xfrm>
            <a:off x="8439840" y="2624400"/>
            <a:ext cx="2093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f172a"/>
                </a:solidFill>
                <a:latin typeface="Aptos"/>
                <a:ea typeface="Aptos"/>
              </a:rPr>
              <a:t>Walid-P2S-VM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6"/>
          <p:cNvSpPr/>
          <p:nvPr/>
        </p:nvSpPr>
        <p:spPr>
          <a:xfrm>
            <a:off x="8458200" y="2871360"/>
            <a:ext cx="2056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34155"/>
                </a:solidFill>
                <a:latin typeface="Aptos"/>
                <a:ea typeface="Aptos"/>
              </a:rPr>
              <a:t>Ubuntu 24.04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34155"/>
                </a:solidFill>
                <a:latin typeface="Aptos"/>
                <a:ea typeface="Aptos"/>
              </a:rPr>
              <a:t>Private IP: 104.104.104.36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34155"/>
                </a:solidFill>
                <a:latin typeface="Aptos"/>
                <a:ea typeface="Aptos"/>
              </a:rPr>
              <a:t>Public IP: None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7"/>
          <p:cNvSpPr/>
          <p:nvPr/>
        </p:nvSpPr>
        <p:spPr>
          <a:xfrm>
            <a:off x="6656760" y="3218760"/>
            <a:ext cx="12333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6666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0078d4"/>
                </a:solidFill>
                <a:latin typeface="Aptos"/>
                <a:ea typeface="Aptos"/>
              </a:rPr>
              <a:t>Azure private routing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5"/>
          <p:cNvSpPr/>
          <p:nvPr/>
        </p:nvSpPr>
        <p:spPr>
          <a:xfrm>
            <a:off x="8183880" y="4169520"/>
            <a:ext cx="2604960" cy="785160"/>
          </a:xfrm>
          <a:prstGeom prst="roundRect">
            <a:avLst>
              <a:gd name="adj" fmla="val 10465"/>
            </a:avLst>
          </a:prstGeom>
          <a:solidFill>
            <a:srgbClr val="fff7ed"/>
          </a:solidFill>
          <a:ln w="1905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8"/>
          <p:cNvSpPr/>
          <p:nvPr/>
        </p:nvSpPr>
        <p:spPr>
          <a:xfrm>
            <a:off x="8293680" y="4260960"/>
            <a:ext cx="2385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f172a"/>
                </a:solidFill>
                <a:latin typeface="Aptos"/>
                <a:ea typeface="Aptos"/>
              </a:rPr>
              <a:t>Walid-P2S-VM-NSG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49"/>
          <p:cNvSpPr/>
          <p:nvPr/>
        </p:nvSpPr>
        <p:spPr>
          <a:xfrm>
            <a:off x="8330040" y="4535280"/>
            <a:ext cx="2312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334155"/>
                </a:solidFill>
                <a:latin typeface="Aptos"/>
                <a:ea typeface="Aptos"/>
              </a:rPr>
              <a:t>Allow SSH TCP 22 only from 172.16.104.0/24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9"/>
          <p:cNvSpPr/>
          <p:nvPr/>
        </p:nvSpPr>
        <p:spPr>
          <a:xfrm>
            <a:off x="502920" y="2788920"/>
            <a:ext cx="3519360" cy="1754640"/>
          </a:xfrm>
          <a:prstGeom prst="roundRect">
            <a:avLst>
              <a:gd name="adj" fmla="val 5208"/>
            </a:avLst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50"/>
          <p:cNvSpPr/>
          <p:nvPr/>
        </p:nvSpPr>
        <p:spPr>
          <a:xfrm>
            <a:off x="685800" y="2953440"/>
            <a:ext cx="3153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  <a:ea typeface="Aptos"/>
              </a:rPr>
              <a:t>Key configuration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51"/>
          <p:cNvSpPr/>
          <p:nvPr/>
        </p:nvSpPr>
        <p:spPr>
          <a:xfrm>
            <a:off x="704160" y="3319200"/>
            <a:ext cx="31168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• </a:t>
            </a: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P2S client pool: 172.16.104.0/24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• </a:t>
            </a: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Tunnel type: OpenVPN (SSL)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• </a:t>
            </a: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Authentication: Azure certificate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• </a:t>
            </a: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Root certificate: Walid-P2SRootCert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• </a:t>
            </a:r>
            <a:r>
              <a:rPr b="0" lang="en-US" sz="1070" spc="-1" strike="noStrike">
                <a:solidFill>
                  <a:srgbClr val="e5e7eb"/>
                </a:solidFill>
                <a:latin typeface="Aptos"/>
                <a:ea typeface="Aptos"/>
              </a:rPr>
              <a:t>VM access: SSH to private IP only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502920" y="4800600"/>
            <a:ext cx="3519360" cy="876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85800" y="4901040"/>
            <a:ext cx="3153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60" spc="-1" strike="noStrike">
                <a:solidFill>
                  <a:srgbClr val="0f172a"/>
                </a:solidFill>
                <a:latin typeface="Aptos"/>
                <a:ea typeface="Aptos"/>
              </a:rPr>
              <a:t>Testing approach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85800" y="5184720"/>
            <a:ext cx="3153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334155"/>
                </a:solidFill>
                <a:latin typeface="Aptos"/>
                <a:ea typeface="Aptos"/>
              </a:rPr>
              <a:t>1) Connect VPN → verify tun0 and SSH success.  2) Disconnect VPN → verify SSH timeout.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20480" y="6473880"/>
            <a:ext cx="3473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Aptos"/>
              </a:rPr>
              <a:t>MST400 Project 2  |  Walid Hasan Ansary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937760" y="6473880"/>
            <a:ext cx="63082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Aptos"/>
              </a:rPr>
              <a:t>Corrected diagram: Gateway inside GatewaySubnet, VM inside WorkloadSubnet.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CONCEPT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H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o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w 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P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oi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n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t-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t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o-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Si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t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e 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V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P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N 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W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o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r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k</a:t>
            </a: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48640" y="12070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Plain-language </a:t>
            </a: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walkthrough of the </a:t>
            </a: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connection flow used in </a:t>
            </a: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this project.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548640" y="1874520"/>
            <a:ext cx="2486880" cy="3200040"/>
          </a:xfrm>
          <a:prstGeom prst="roundRect">
            <a:avLst>
              <a:gd name="adj" fmla="val 367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749880" y="2103120"/>
            <a:ext cx="502560" cy="502560"/>
          </a:xfrm>
          <a:prstGeom prst="ellipse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749880" y="2103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Segoe UI"/>
                <a:ea typeface="Segoe U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749880" y="2743200"/>
            <a:ext cx="208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Authenticate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749880" y="3200400"/>
            <a:ext cx="20844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The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Ubu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ntu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lapto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p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start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s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Ope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nVP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N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with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the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Azur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e-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gene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rate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d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profi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le.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Its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clien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certif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icate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prov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es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it's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trust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ed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by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the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uplo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aded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root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certif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icate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3054240" y="3355920"/>
            <a:ext cx="17352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d9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3237120" y="1874520"/>
            <a:ext cx="2486880" cy="3200040"/>
          </a:xfrm>
          <a:prstGeom prst="roundRect">
            <a:avLst>
              <a:gd name="adj" fmla="val 367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3438000" y="2103120"/>
            <a:ext cx="502560" cy="502560"/>
          </a:xfrm>
          <a:prstGeom prst="ellipse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3438000" y="2103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Segoe UI"/>
                <a:ea typeface="Segoe U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3438000" y="2743200"/>
            <a:ext cx="208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Get an address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3438000" y="3200400"/>
            <a:ext cx="20844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Azure assigns the laptop an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address from the P2S pool,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172.16.104.0/24 — separate </a:t>
            </a: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from the VNet's own range.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5742360" y="3355920"/>
            <a:ext cx="17352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d9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7"/>
          <p:cNvSpPr/>
          <p:nvPr/>
        </p:nvSpPr>
        <p:spPr>
          <a:xfrm>
            <a:off x="5925240" y="1874520"/>
            <a:ext cx="2486880" cy="3200040"/>
          </a:xfrm>
          <a:prstGeom prst="roundRect">
            <a:avLst>
              <a:gd name="adj" fmla="val 367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8"/>
          <p:cNvSpPr/>
          <p:nvPr/>
        </p:nvSpPr>
        <p:spPr>
          <a:xfrm>
            <a:off x="6126480" y="2103120"/>
            <a:ext cx="502560" cy="502560"/>
          </a:xfrm>
          <a:prstGeom prst="ellipse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126480" y="2103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Segoe UI"/>
                <a:ea typeface="Segoe U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6126480" y="2743200"/>
            <a:ext cx="208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Enter the tunnel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6126480" y="3200400"/>
            <a:ext cx="20844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Traffic bound for Azure private resources travels through the encrypted tunnel to Walid-VpnGw.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1"/>
          <p:cNvSpPr/>
          <p:nvPr/>
        </p:nvSpPr>
        <p:spPr>
          <a:xfrm>
            <a:off x="8430840" y="3355920"/>
            <a:ext cx="17352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d9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2"/>
          <p:cNvSpPr/>
          <p:nvPr/>
        </p:nvSpPr>
        <p:spPr>
          <a:xfrm>
            <a:off x="8613720" y="1874520"/>
            <a:ext cx="2486880" cy="3200040"/>
          </a:xfrm>
          <a:prstGeom prst="roundRect">
            <a:avLst>
              <a:gd name="adj" fmla="val 367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3"/>
          <p:cNvSpPr/>
          <p:nvPr/>
        </p:nvSpPr>
        <p:spPr>
          <a:xfrm>
            <a:off x="8814960" y="2103120"/>
            <a:ext cx="502560" cy="502560"/>
          </a:xfrm>
          <a:prstGeom prst="ellipse">
            <a:avLst/>
          </a:prstGeom>
          <a:solidFill>
            <a:srgbClr val="0078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8814960" y="2103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Segoe UI"/>
                <a:ea typeface="Segoe UI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6"/>
          <p:cNvSpPr/>
          <p:nvPr/>
        </p:nvSpPr>
        <p:spPr>
          <a:xfrm>
            <a:off x="8814960" y="2743200"/>
            <a:ext cx="208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Reach the VM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56"/>
          <p:cNvSpPr/>
          <p:nvPr/>
        </p:nvSpPr>
        <p:spPr>
          <a:xfrm>
            <a:off x="8814960" y="3200400"/>
            <a:ext cx="20844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6b82"/>
                </a:solidFill>
                <a:latin typeface="Segoe UI"/>
                <a:ea typeface="Segoe UI"/>
              </a:rPr>
              <a:t>The VM has no public IP, so SSH to 104.104.104.36 is reachable only through the VPN path; the NSG allows SSH solely from the P2S pool.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4"/>
          <p:cNvSpPr/>
          <p:nvPr/>
        </p:nvSpPr>
        <p:spPr>
          <a:xfrm>
            <a:off x="548640" y="5349240"/>
            <a:ext cx="10606680" cy="77688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7"/>
          <p:cNvSpPr/>
          <p:nvPr/>
        </p:nvSpPr>
        <p:spPr>
          <a:xfrm>
            <a:off x="777240" y="534924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d9c3"/>
                </a:solidFill>
                <a:latin typeface="Segoe UI"/>
                <a:ea typeface="Segoe UI"/>
              </a:rPr>
              <a:t>Connection flow:  </a:t>
            </a:r>
            <a:r>
              <a:rPr b="0" lang="en-US" sz="1250" spc="-1" strike="noStrike">
                <a:solidFill>
                  <a:srgbClr val="ffffff"/>
                </a:solidFill>
                <a:latin typeface="Segoe UI"/>
                <a:ea typeface="Segoe UI"/>
              </a:rPr>
              <a:t>certificate auth  →  172.16.104.x assigned  →  enters VNet 104.104.104.0/25  →  SSH reaches VM at 104.104.104.36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58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10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RESOURCE INVENTORY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All Provisioned Azure Resources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823320" y="1371600"/>
            <a:ext cx="4205880" cy="448020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777240" y="1618560"/>
            <a:ext cx="3748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Linux VM: Walid-P2S-VM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NSG: Walid-P2S-VM-NSG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NIC and OS disk for the VM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VNet: Walid-VNet-CanadaCentral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VPN Gateway: Walid-VpnGw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Gateway public IP: Walid-VpnGw-PIP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Resource group: Walid-MST400S26-R1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5916240" y="658080"/>
            <a:ext cx="5742360" cy="597132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e1e6ee"/>
            </a:solidFill>
            <a:round/>
          </a:ln>
          <a:effectLst>
            <a:outerShdw algn="bl" blurRad="127080" dir="5400000" dist="38160" kx="0" ky="0" rotWithShape="0" sx="100000" sy="100000">
              <a:srgbClr val="1a233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2" descr="/mnt/data/02-All-Azure-Resources.png.png"/>
          <p:cNvPicPr/>
          <p:nvPr/>
        </p:nvPicPr>
        <p:blipFill>
          <a:blip r:embed="rId1"/>
          <a:stretch/>
        </p:blipFill>
        <p:spPr>
          <a:xfrm>
            <a:off x="5916240" y="685800"/>
            <a:ext cx="5742360" cy="594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VNet and subnet IP address spaces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Assigned address range and required subnet split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502920" y="1097280"/>
            <a:ext cx="5348160" cy="507384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640080" y="1179720"/>
            <a:ext cx="5073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VNet address space: 104.104.104.0/25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0" descr="/mnt/data/03-VNet-Address-Space.png.png"/>
          <p:cNvPicPr/>
          <p:nvPr/>
        </p:nvPicPr>
        <p:blipFill>
          <a:blip r:embed="rId1"/>
          <a:stretch/>
        </p:blipFill>
        <p:spPr>
          <a:xfrm>
            <a:off x="1049760" y="1481400"/>
            <a:ext cx="4254120" cy="4579920"/>
          </a:xfrm>
          <a:prstGeom prst="rect">
            <a:avLst/>
          </a:prstGeom>
          <a:ln w="0">
            <a:noFill/>
          </a:ln>
        </p:spPr>
      </p:pic>
      <p:sp>
        <p:nvSpPr>
          <p:cNvPr id="102" name="Shape 5"/>
          <p:cNvSpPr/>
          <p:nvPr/>
        </p:nvSpPr>
        <p:spPr>
          <a:xfrm>
            <a:off x="6126480" y="1097280"/>
            <a:ext cx="5531040" cy="507384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263640" y="1179720"/>
            <a:ext cx="5256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  <a:ea typeface="Noto Sans CJK SC"/>
              </a:rPr>
              <a:t>GatewaySubnet 104.104.104.0/27</a:t>
            </a: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 ,</a:t>
            </a:r>
            <a:r>
              <a:rPr b="1" lang="en-US" sz="1050" spc="-1" strike="noStrike">
                <a:solidFill>
                  <a:srgbClr val="1e293b"/>
                </a:solidFill>
                <a:latin typeface="Aptos"/>
                <a:ea typeface="Noto Sans CJK SC"/>
              </a:rPr>
              <a:t>WorkloadSubnet 104.104.104.32/27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 1" descr="/mnt/data/04-VNet-Subnets.png.png"/>
          <p:cNvPicPr/>
          <p:nvPr/>
        </p:nvPicPr>
        <p:blipFill>
          <a:blip r:embed="rId2"/>
          <a:stretch/>
        </p:blipFill>
        <p:spPr>
          <a:xfrm>
            <a:off x="6764760" y="1481400"/>
            <a:ext cx="4254120" cy="4579920"/>
          </a:xfrm>
          <a:prstGeom prst="rect">
            <a:avLst/>
          </a:prstGeom>
          <a:ln w="0">
            <a:noFill/>
          </a:ln>
        </p:spPr>
      </p:pic>
      <p:sp>
        <p:nvSpPr>
          <p:cNvPr id="105" name="Text 7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5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VPN Gateway configuration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Route-based VPN Gateway used for Point-to-Site access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502920" y="1115640"/>
            <a:ext cx="6948360" cy="504648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40080" y="1197720"/>
            <a:ext cx="6674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Walid-VpnGw overview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0" descr="/mnt/data/07-VPN-Gateway-Overview.png"/>
          <p:cNvPicPr/>
          <p:nvPr/>
        </p:nvPicPr>
        <p:blipFill>
          <a:blip r:embed="rId1"/>
          <a:stretch/>
        </p:blipFill>
        <p:spPr>
          <a:xfrm>
            <a:off x="1862640" y="1499760"/>
            <a:ext cx="4228560" cy="4552560"/>
          </a:xfrm>
          <a:prstGeom prst="rect">
            <a:avLst/>
          </a:prstGeom>
          <a:ln w="0">
            <a:noFill/>
          </a:ln>
        </p:spPr>
      </p:pic>
      <p:sp>
        <p:nvSpPr>
          <p:cNvPr id="112" name="Text 5"/>
          <p:cNvSpPr/>
          <p:nvPr/>
        </p:nvSpPr>
        <p:spPr>
          <a:xfrm>
            <a:off x="7726680" y="1417320"/>
            <a:ext cx="388512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Gateway type: VPN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VPN type: Route-based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SKU: VpnGw1AZ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Region: Canada Central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VNet: Walid-Vnet-Canada central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Gateway public IP: 20.220.251.24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8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Point-to-Site VPN configuration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Client pool, tunnel type and certificate authentication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366840" y="1014120"/>
            <a:ext cx="6948360" cy="538668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640080" y="1197720"/>
            <a:ext cx="6674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Point-to-site configuration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0" descr="/mnt/data/08-P2S-Configuration.png"/>
          <p:cNvPicPr/>
          <p:nvPr/>
        </p:nvPicPr>
        <p:blipFill>
          <a:blip r:embed="rId1"/>
          <a:stretch/>
        </p:blipFill>
        <p:spPr>
          <a:xfrm>
            <a:off x="366840" y="1416240"/>
            <a:ext cx="6948360" cy="4984560"/>
          </a:xfrm>
          <a:prstGeom prst="rect">
            <a:avLst/>
          </a:prstGeom>
          <a:ln w="0">
            <a:noFill/>
          </a:ln>
        </p:spPr>
      </p:pic>
      <p:sp>
        <p:nvSpPr>
          <p:cNvPr id="120" name="Text 6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9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46"/>
          <p:cNvSpPr/>
          <p:nvPr/>
        </p:nvSpPr>
        <p:spPr>
          <a:xfrm>
            <a:off x="7681320" y="1600200"/>
            <a:ext cx="4205880" cy="429732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84"/>
          <p:cNvSpPr/>
          <p:nvPr/>
        </p:nvSpPr>
        <p:spPr>
          <a:xfrm>
            <a:off x="7673760" y="2226960"/>
            <a:ext cx="3794760" cy="41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Address pool: 172.16.104.0/24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Tunnel type: OpenVPN (SSL)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Authentication: Azure certificate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Root certificate: Walid-P2SRootCert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VPN client profile downloaded from Azure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Certificates generated and used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Root certificate uploaded to Azure; client certificate used locally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502920" y="1115640"/>
            <a:ext cx="6674040" cy="528516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640080" y="1197720"/>
            <a:ext cx="6399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Certificate verification terminal output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0" descr="/mnt/data/09-Certificate-Verification.png"/>
          <p:cNvPicPr/>
          <p:nvPr/>
        </p:nvPicPr>
        <p:blipFill>
          <a:blip r:embed="rId1"/>
          <a:stretch/>
        </p:blipFill>
        <p:spPr>
          <a:xfrm>
            <a:off x="502920" y="1416240"/>
            <a:ext cx="6583680" cy="4901040"/>
          </a:xfrm>
          <a:prstGeom prst="rect">
            <a:avLst/>
          </a:prstGeom>
          <a:ln w="0">
            <a:noFill/>
          </a:ln>
        </p:spPr>
      </p:pic>
      <p:sp>
        <p:nvSpPr>
          <p:cNvPr id="129" name="Text 6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10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5"/>
          <p:cNvSpPr/>
          <p:nvPr/>
        </p:nvSpPr>
        <p:spPr>
          <a:xfrm>
            <a:off x="7452720" y="1417680"/>
            <a:ext cx="4205880" cy="429732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83"/>
          <p:cNvSpPr/>
          <p:nvPr/>
        </p:nvSpPr>
        <p:spPr>
          <a:xfrm>
            <a:off x="7681320" y="1828800"/>
            <a:ext cx="37486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Root cert subject / issuer: Walid-P2SRootCert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Azure uses the root public certificate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Client certificate signed by the root certificate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Verification result: Walid-P2SClientCert.pem: OK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Private keys kept local, never uploaded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Linux VM configuration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Private Azure Linux VM for SSH testing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502920" y="1115640"/>
            <a:ext cx="6811200" cy="528516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640080" y="1197720"/>
            <a:ext cx="6536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Walid-P2S-VM overview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0" descr="/mnt/data/05-Linux-VM-Overview.png.png"/>
          <p:cNvPicPr/>
          <p:nvPr/>
        </p:nvPicPr>
        <p:blipFill>
          <a:blip r:embed="rId1"/>
          <a:stretch/>
        </p:blipFill>
        <p:spPr>
          <a:xfrm>
            <a:off x="502920" y="1499760"/>
            <a:ext cx="6812280" cy="4901040"/>
          </a:xfrm>
          <a:prstGeom prst="rect">
            <a:avLst/>
          </a:prstGeom>
          <a:ln w="0">
            <a:noFill/>
          </a:ln>
        </p:spPr>
      </p:pic>
      <p:sp>
        <p:nvSpPr>
          <p:cNvPr id="138" name="Text 6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6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44"/>
          <p:cNvSpPr/>
          <p:nvPr/>
        </p:nvSpPr>
        <p:spPr>
          <a:xfrm>
            <a:off x="7681320" y="1600200"/>
            <a:ext cx="4205880" cy="429732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82"/>
          <p:cNvSpPr/>
          <p:nvPr/>
        </p:nvSpPr>
        <p:spPr>
          <a:xfrm>
            <a:off x="7681320" y="2469240"/>
            <a:ext cx="37486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Rule: Allow-SSH-From-P2S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Source: 172.16.104.0/24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Port: 22, Protocol: TCP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Action: Allow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50" spc="-1" strike="noStrike">
                <a:solidFill>
                  <a:srgbClr val="1a2332"/>
                </a:solidFill>
                <a:latin typeface="Segoe UI"/>
                <a:ea typeface="Segoe UI"/>
              </a:rPr>
              <a:t>No public-Internet SSH rule exists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NSG rule for secure SSH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SSH is allowed only from the P2S client address pool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502920" y="1115640"/>
            <a:ext cx="7131240" cy="5285160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5120" dir="2700000" dist="9673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640080" y="1197720"/>
            <a:ext cx="6856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Aptos"/>
              </a:rPr>
              <a:t>Network security group attached to VM NIC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0" descr="/mnt/data/06-VM-NSG-SSH-Rule.png"/>
          <p:cNvPicPr/>
          <p:nvPr/>
        </p:nvPicPr>
        <p:blipFill>
          <a:blip r:embed="rId1"/>
          <a:stretch/>
        </p:blipFill>
        <p:spPr>
          <a:xfrm>
            <a:off x="502920" y="1499760"/>
            <a:ext cx="7040880" cy="4901040"/>
          </a:xfrm>
          <a:prstGeom prst="rect">
            <a:avLst/>
          </a:prstGeom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7909560" y="1417320"/>
            <a:ext cx="356508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Rule: Allow-SSH-From-P2S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Source: 172.16.104.0/24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Port: 22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Protocol: TCP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Action: Allow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530" spc="-1" strike="noStrike">
                <a:solidFill>
                  <a:srgbClr val="1e293b"/>
                </a:solidFill>
                <a:latin typeface="Aptos"/>
              </a:rPr>
              <a:t>No public Internet SSH rule</a:t>
            </a:r>
            <a:endParaRPr b="0" lang="en-US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7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76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77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VPN Client IP Evidence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8"/>
          <p:cNvSpPr/>
          <p:nvPr/>
        </p:nvSpPr>
        <p:spPr>
          <a:xfrm>
            <a:off x="548640" y="1207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The tun0 interface shows the local computer received a P2S address.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42"/>
          <p:cNvSpPr/>
          <p:nvPr/>
        </p:nvSpPr>
        <p:spPr>
          <a:xfrm>
            <a:off x="548640" y="1645920"/>
            <a:ext cx="4205880" cy="429732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79"/>
          <p:cNvSpPr/>
          <p:nvPr/>
        </p:nvSpPr>
        <p:spPr>
          <a:xfrm>
            <a:off x="777240" y="1847160"/>
            <a:ext cx="37486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tun0 confirms the VPN tunnel interface is active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172.16.104.2/24 assigned from the P2S pool 172.16.104.0/24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The routing table sends 104.104.104.36 traffic via the tunnel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Next: successful SSH proves the VM was reachable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43"/>
          <p:cNvSpPr/>
          <p:nvPr/>
        </p:nvSpPr>
        <p:spPr>
          <a:xfrm>
            <a:off x="5029200" y="457200"/>
            <a:ext cx="6858000" cy="617220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e1e6ee"/>
            </a:solidFill>
            <a:round/>
          </a:ln>
          <a:effectLst>
            <a:outerShdw algn="bl" blurRad="127080" dir="5400000" dist="38160" kx="0" ky="0" rotWithShape="0" sx="100000" sy="100000">
              <a:srgbClr val="1a233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80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81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5029200" y="457200"/>
            <a:ext cx="6858000" cy="617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69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VERIFICATION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70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Testing Approach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71"/>
          <p:cNvSpPr/>
          <p:nvPr/>
        </p:nvSpPr>
        <p:spPr>
          <a:xfrm>
            <a:off x="548640" y="1207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How the working solution was verified end-to-end.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7"/>
          <p:cNvSpPr/>
          <p:nvPr/>
        </p:nvSpPr>
        <p:spPr>
          <a:xfrm>
            <a:off x="548640" y="1691640"/>
            <a:ext cx="5486040" cy="4617360"/>
          </a:xfrm>
          <a:prstGeom prst="roundRect">
            <a:avLst>
              <a:gd name="adj" fmla="val 1782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72"/>
          <p:cNvSpPr/>
          <p:nvPr/>
        </p:nvSpPr>
        <p:spPr>
          <a:xfrm>
            <a:off x="777240" y="1892880"/>
            <a:ext cx="502884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Confirm the VPN client receives a P2S IP from 172.16.104.0/24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Confirm routing to 104.104.104.36 uses the tunnel when connected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SSH to the VM using private IP 104.104.104.36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Run hostname, whoami, hostname -I and ip addr in the VM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Stop OpenVPN and confirm the tunnel interface is gone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1a2332"/>
                </a:solidFill>
                <a:latin typeface="Segoe UI"/>
                <a:ea typeface="Segoe UI"/>
              </a:rPr>
              <a:t>Retry SSH to 104.104.104.36 and confirm it times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8"/>
          <p:cNvSpPr/>
          <p:nvPr/>
        </p:nvSpPr>
        <p:spPr>
          <a:xfrm>
            <a:off x="6309360" y="1691640"/>
            <a:ext cx="5120280" cy="4617360"/>
          </a:xfrm>
          <a:prstGeom prst="roundRect">
            <a:avLst>
              <a:gd name="adj" fmla="val 1980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9"/>
          <p:cNvSpPr/>
          <p:nvPr/>
        </p:nvSpPr>
        <p:spPr>
          <a:xfrm>
            <a:off x="6537960" y="1874520"/>
            <a:ext cx="127800" cy="127800"/>
          </a:xfrm>
          <a:prstGeom prst="ellipse">
            <a:avLst/>
          </a:prstGeom>
          <a:solidFill>
            <a:srgbClr val="e05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0"/>
          <p:cNvSpPr/>
          <p:nvPr/>
        </p:nvSpPr>
        <p:spPr>
          <a:xfrm>
            <a:off x="6739200" y="1874520"/>
            <a:ext cx="127800" cy="127800"/>
          </a:xfrm>
          <a:prstGeom prst="ellipse">
            <a:avLst/>
          </a:prstGeom>
          <a:solidFill>
            <a:srgbClr val="e0b3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1"/>
          <p:cNvSpPr/>
          <p:nvPr/>
        </p:nvSpPr>
        <p:spPr>
          <a:xfrm>
            <a:off x="6940440" y="1874520"/>
            <a:ext cx="127800" cy="127800"/>
          </a:xfrm>
          <a:prstGeom prst="ellipse">
            <a:avLst/>
          </a:prstGeom>
          <a:solidFill>
            <a:srgbClr val="3ea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73"/>
          <p:cNvSpPr/>
          <p:nvPr/>
        </p:nvSpPr>
        <p:spPr>
          <a:xfrm>
            <a:off x="6537960" y="2148840"/>
            <a:ext cx="46630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ip -br address show tun0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ip route get 104.104.104.36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ssh -i ~/.ssh/walid-mst400-key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whansary@104.104.104.36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hostname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whoami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hostname -I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ip addr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sudo pkill openvpn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$ ssh -o ConnectTimeout=10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-i ~/.ssh/walid-mst400-key 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8fe3c4"/>
                </a:solidFill>
                <a:latin typeface="Consolas"/>
                <a:ea typeface="Consolas"/>
              </a:rPr>
              <a:t>whansary@104.104.104.36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7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7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62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DEMO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63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Successful SSH over VPN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64"/>
          <p:cNvSpPr/>
          <p:nvPr/>
        </p:nvSpPr>
        <p:spPr>
          <a:xfrm>
            <a:off x="548640" y="1207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Private-IP SSH access to Walid-P2S-VM.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548640" y="1645920"/>
            <a:ext cx="4205880" cy="45684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65"/>
          <p:cNvSpPr/>
          <p:nvPr/>
        </p:nvSpPr>
        <p:spPr>
          <a:xfrm>
            <a:off x="548640" y="16459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9e5a"/>
                </a:solidFill>
                <a:latin typeface="Segoe UI"/>
                <a:ea typeface="Segoe UI"/>
              </a:rPr>
              <a:t>✓  </a:t>
            </a:r>
            <a:r>
              <a:rPr b="1" lang="en-US" sz="1300" spc="-1" strike="noStrike">
                <a:solidFill>
                  <a:srgbClr val="1e9e5a"/>
                </a:solidFill>
                <a:latin typeface="Segoe UI"/>
                <a:ea typeface="Segoe UI"/>
              </a:rPr>
              <a:t>SSH connection succeeded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5"/>
          <p:cNvSpPr/>
          <p:nvPr/>
        </p:nvSpPr>
        <p:spPr>
          <a:xfrm>
            <a:off x="548640" y="2286000"/>
            <a:ext cx="4205880" cy="365724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66"/>
          <p:cNvSpPr/>
          <p:nvPr/>
        </p:nvSpPr>
        <p:spPr>
          <a:xfrm>
            <a:off x="777240" y="2487240"/>
            <a:ext cx="37486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SSH target: whansary@104.104.104.36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Last login source: 172.16.104.2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hostname: Walid-P2S-VM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whoami: whansary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ip addr shows eth0 private address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104.104.104.36/27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6"/>
          <p:cNvSpPr/>
          <p:nvPr/>
        </p:nvSpPr>
        <p:spPr>
          <a:xfrm>
            <a:off x="5916240" y="457200"/>
            <a:ext cx="5970960" cy="617220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e1e6ee"/>
            </a:solidFill>
            <a:round/>
          </a:ln>
          <a:effectLst>
            <a:outerShdw algn="bl" blurRad="127080" dir="5400000" dist="38160" kx="0" ky="0" rotWithShape="0" sx="100000" sy="100000">
              <a:srgbClr val="1a233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67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68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mage 4" descr="/mnt/data/11-SSH-Success.png"/>
          <p:cNvPicPr/>
          <p:nvPr/>
        </p:nvPicPr>
        <p:blipFill>
          <a:blip r:embed="rId1"/>
          <a:stretch/>
        </p:blipFill>
        <p:spPr>
          <a:xfrm>
            <a:off x="5943600" y="457200"/>
            <a:ext cx="5943600" cy="617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2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078d4"/>
                </a:solidFill>
                <a:latin typeface="Segoe UI"/>
                <a:ea typeface="Segoe UI"/>
              </a:rPr>
              <a:t>DEMO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0"/>
          <p:cNvSpPr/>
          <p:nvPr/>
        </p:nvSpPr>
        <p:spPr>
          <a:xfrm>
            <a:off x="548640" y="658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2332"/>
                </a:solidFill>
                <a:latin typeface="Segoe UI"/>
                <a:ea typeface="Segoe UI"/>
              </a:rPr>
              <a:t>VPN Disconnected Test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548640" y="1207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2"/>
                </a:solidFill>
                <a:latin typeface="Segoe UI"/>
                <a:ea typeface="Segoe UI"/>
              </a:rPr>
              <a:t>SSH fails once the VPN tunnel is stopped.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548640" y="1645920"/>
            <a:ext cx="4205880" cy="456840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3"/>
          <p:cNvSpPr/>
          <p:nvPr/>
        </p:nvSpPr>
        <p:spPr>
          <a:xfrm>
            <a:off x="548640" y="16459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Segoe UI"/>
                <a:ea typeface="Segoe UI"/>
              </a:rPr>
              <a:t>✕  </a:t>
            </a:r>
            <a:r>
              <a:rPr b="1" lang="en-US" sz="1300" spc="-1" strike="noStrike">
                <a:solidFill>
                  <a:srgbClr val="c0392b"/>
                </a:solidFill>
                <a:latin typeface="Segoe UI"/>
                <a:ea typeface="Segoe UI"/>
              </a:rPr>
              <a:t>SSH connection timed out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548640" y="2286000"/>
            <a:ext cx="4205880" cy="365724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4"/>
          <p:cNvSpPr/>
          <p:nvPr/>
        </p:nvSpPr>
        <p:spPr>
          <a:xfrm>
            <a:off x="777240" y="2487240"/>
            <a:ext cx="37486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OpenVPN stopped with sudo pkill openvpn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No tun interface remains after disconnect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SSH attempted to the same private IP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Result: connection timed out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▪"/>
            </a:pPr>
            <a:r>
              <a:rPr b="0" lang="en-US" sz="1350" spc="-1" strike="noStrike">
                <a:solidFill>
                  <a:srgbClr val="1a2332"/>
                </a:solidFill>
                <a:latin typeface="Segoe UI"/>
                <a:ea typeface="Segoe UI"/>
              </a:rPr>
              <a:t>Proves the VM requires the active VPN tunnel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5257800" y="457200"/>
            <a:ext cx="6172200" cy="5856480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e1e6ee"/>
            </a:solidFill>
            <a:round/>
          </a:ln>
          <a:effectLst>
            <a:outerShdw algn="bl" blurRad="127080" dir="5400000" dist="38160" kx="0" ky="0" rotWithShape="0" sx="100000" sy="100000">
              <a:srgbClr val="1a233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0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MST400 Project 2  |  Walid Hasan Ansary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1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2"/>
                </a:solidFill>
                <a:latin typeface="Segoe UI"/>
                <a:ea typeface="Segoe UI"/>
              </a:rPr>
              <a:t>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Image 3" descr="/mnt/data/12-SSH-Failed-Without-VPN.png"/>
          <p:cNvPicPr/>
          <p:nvPr/>
        </p:nvPicPr>
        <p:blipFill>
          <a:blip r:embed="rId1"/>
          <a:stretch/>
        </p:blipFill>
        <p:spPr>
          <a:xfrm>
            <a:off x="5283360" y="457200"/>
            <a:ext cx="6146640" cy="58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12190680" cy="1450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502920" y="32004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Aptos Display"/>
                <a:ea typeface="Aptos Display"/>
              </a:rPr>
              <a:t>Conclusion and reflection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530280" y="795600"/>
            <a:ext cx="10788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Aptos"/>
              </a:rPr>
              <a:t>What was learned from the project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777240" y="1325880"/>
            <a:ext cx="6765480" cy="42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The solution provides secure remote access without assigning a public IP to the VM.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Point-to-Site VPN creates an encrypted client-to-Azure tunnel.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Certificate authentication controls who can connect to the VPN.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NSG source filtering limits SSH to the VPN client address pool.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• </a:t>
            </a:r>
            <a:r>
              <a:rPr b="0" lang="en-US" sz="1650" spc="-1" strike="noStrike">
                <a:solidFill>
                  <a:srgbClr val="1e293b"/>
                </a:solidFill>
                <a:latin typeface="Aptos"/>
              </a:rPr>
              <a:t>Testing proved SSH works with the VPN connected and fails after disconnecting the VPN.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457200" y="6556320"/>
            <a:ext cx="5485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</a:rPr>
              <a:t>MST400 Project 2 | Walid Hasan Ansary | 16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LibreOffice/24.2.7.2$Linux_X86_64 LibreOffice_project/420$Build-2</Application>
  <AppVersion>15.0000</AppVersion>
  <Words>0</Words>
  <Paragraphs>0</Paragraphs>
  <Company>Seneca Polytechnic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2026-07-31T02:03:33Z</dcterms:created>
  <dc:creator>Walid Hasan Ansary</dc:creator>
  <dc:description/>
  <dc:language>en-US</dc:language>
  <cp:lastModifiedBy/>
  <dcterms:modified xsi:type="dcterms:W3CDTF">2026-07-30T23:33:52Z</dcterms:modified>
  <cp:revision>6</cp:revision>
  <dc:subject>MST400 Project 2 - Secure Point-to-Site VPN Connection</dc:subject>
  <dc:title>MST400 Project 2 - Secure Point-to-Site VPN Connection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